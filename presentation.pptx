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515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479E"/>
                </a:solidFill>
              </a:rPr>
              <a:t>Tunisian Student Early-Warning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479E"/>
                </a:solidFill>
              </a:rPr>
              <a:t>&amp; Well-Being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880360"/>
            <a:ext cx="5760720" cy="36576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33344"/>
                </a:solidFill>
              </a:rPr>
              <a:t>SESAME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333344"/>
                </a:solidFill>
              </a:rPr>
              <a:t>Python Web Programming – 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333344"/>
                </a:solidFill>
              </a:rPr>
              <a:t>Academic Year 2025 –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67799"/>
                </a:solidFill>
              </a:rPr>
              <a:t>Individual Exam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161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👥  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10512"/>
            <a:ext cx="25237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Tunisian middle- &amp; high-school students (ages 12–18) across
4 partner schools in Tunis, Ariana, Sousse, Bizerte.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188720"/>
            <a:ext cx="274320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82112" y="1188720"/>
            <a:ext cx="2743200" cy="502920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2161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10512"/>
            <a:ext cx="25237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Silent disengagement — rising absences, grade drops, unreported
distress — often precedes dropout by months.
Current workflows rely on informal paper notes.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188720"/>
            <a:ext cx="274320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9904" y="1188720"/>
            <a:ext cx="2743200" cy="502920"/>
          </a:xfrm>
          <a:prstGeom prst="rect">
            <a:avLst/>
          </a:prstGeom>
          <a:solidFill>
            <a:srgbClr val="1A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2161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Decision Makers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810512"/>
            <a:ext cx="25237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Operators (teachers) enter data.
Supervisors (counselors) review and intervene.
Admins (directors) configure, audit, export.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188720"/>
            <a:ext cx="274320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1188720"/>
            <a:ext cx="2743200" cy="502920"/>
          </a:xfrm>
          <a:prstGeom prst="rect">
            <a:avLst/>
          </a:prstGeom>
          <a:solidFill>
            <a:srgbClr val="7B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12161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Expected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810512"/>
            <a:ext cx="25237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44"/>
                </a:solidFill>
              </a:rPr>
              <a:t>Faster detection of high-risk cases.
Auditable intervention adherence.
Measurable workflow completion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5-Layer Pipeline · 3 Django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188720"/>
            <a:ext cx="9875520" cy="749808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25296"/>
            <a:ext cx="29260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① Data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225296"/>
            <a:ext cx="6492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Operator form / CSV upload
cases/views.py · cases/services.py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011680"/>
            <a:ext cx="9875520" cy="749808"/>
          </a:xfrm>
          <a:prstGeom prst="rect">
            <a:avLst/>
          </a:prstGeom>
          <a:solidFill>
            <a:srgbClr val="0B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48256"/>
            <a:ext cx="29260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② SERS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048256"/>
            <a:ext cx="6492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Risk scoring · SERSEntry.compute_sers()
Validation · full_clean()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834639"/>
            <a:ext cx="9875520" cy="749808"/>
          </a:xfrm>
          <a:prstGeom prst="rect">
            <a:avLst/>
          </a:prstGeom>
          <a:solidFill>
            <a:srgbClr val="10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71215"/>
            <a:ext cx="29260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③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871215"/>
            <a:ext cx="6492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State machine: INTAKE→…→CLOSED
CaseEvent audit log (immutable)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657600"/>
            <a:ext cx="9875520" cy="749808"/>
          </a:xfrm>
          <a:prstGeom prst="rect">
            <a:avLst/>
          </a:prstGeom>
          <a:solidFill>
            <a:srgbClr val="1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94176"/>
            <a:ext cx="29260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④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694176"/>
            <a:ext cx="6492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KPI metrics · Supervisor queue
dashboard/views.py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480559"/>
            <a:ext cx="9875520" cy="749808"/>
          </a:xfrm>
          <a:prstGeom prst="rect">
            <a:avLst/>
          </a:prstGeom>
          <a:solidFill>
            <a:srgbClr val="6B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517136"/>
            <a:ext cx="29260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⑤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517136"/>
            <a:ext cx="64922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RBAC · Correlation ID middleware
Structured logs · Threat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035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44"/>
                </a:solidFill>
              </a:rPr>
              <a:t>Django apps: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6016752"/>
            <a:ext cx="1828800" cy="384048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60441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cases/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6016752"/>
            <a:ext cx="1828800" cy="384048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60441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support/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6016752"/>
            <a:ext cx="1828800" cy="384048"/>
          </a:xfrm>
          <a:prstGeom prst="rect">
            <a:avLst/>
          </a:prstGeom>
          <a:solidFill>
            <a:srgbClr val="1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60441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SERS Risk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Student Engagement Risk Score  (0 – 100)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1457432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479E"/>
                </a:solidFill>
              </a:rPr>
              <a:t>SERS  =  (absence_weight × unexcused_absences)  +  (grade_drop_weight × grade_drop_points)  +  (behavior_weight × disciplinary_flags)  +  (wellbeing_weight × (10 − wellbeing_score))       capped at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88920"/>
            <a:ext cx="25603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2560320" cy="475488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Absences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23774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44"/>
                </a:solidFill>
              </a:rPr>
              <a:t>weight = 6
0–30 days
unexcused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788920"/>
            <a:ext cx="25603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27248" y="2788920"/>
            <a:ext cx="2560320" cy="475488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281635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Grade 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337560"/>
            <a:ext cx="23774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44"/>
                </a:solidFill>
              </a:rPr>
              <a:t>weight = 5
0–20 points
from prev. avg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88736" y="2788920"/>
            <a:ext cx="25603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88736" y="2788920"/>
            <a:ext cx="256032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0176" y="281635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3337560"/>
            <a:ext cx="23774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44"/>
                </a:solidFill>
              </a:rPr>
              <a:t>weight = 8
0–10 flags
disciplinary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0224" y="2788920"/>
            <a:ext cx="25603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50224" y="2788920"/>
            <a:ext cx="2560320" cy="475488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41664" y="281635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Well-being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1664" y="3337560"/>
            <a:ext cx="23774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44"/>
                </a:solidFill>
              </a:rPr>
              <a:t>weight = 10
1–10 scale
(inverted)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754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44"/>
                </a:solidFill>
              </a:rPr>
              <a:t>Risk Thresholds (Admin-configurable via SERSPolicy):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66360"/>
            <a:ext cx="3657600" cy="621792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519379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LOW  —  SERS &lt;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5166360"/>
            <a:ext cx="3657600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519379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MEDIUM  —  40 ≤ SERS &lt; 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5166360"/>
            <a:ext cx="3657600" cy="621792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5193792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HIGH ⚡  —  SERS ≥ 65  → auto-promoted to Assessment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Scenario 1 — Education Early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Operator uploads data → risk computed → flagged cases surface on Supervisor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06040" cy="347472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1. Operator
Uploads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233172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Form or CSV at /cases/entry/
Validated row-by-row
Atomic rollback on bad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8346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79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606040" cy="3474720"/>
          </a:xfrm>
          <a:prstGeom prst="rect">
            <a:avLst/>
          </a:prstGeom>
          <a:solidFill>
            <a:srgbClr val="0B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087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2. SERS Engine
Computes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77440"/>
            <a:ext cx="233172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SERSEntry.compute_sers()
4 weighted components
Full breakdown stored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7" y="28346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79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606040" cy="3474720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087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3. HIGH Risk?
Auto-promote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77440"/>
            <a:ext cx="233172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workflow_state → ASSESSMENT
CaseEvent(INTAKE) logged
No manual step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28346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79E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371600"/>
            <a:ext cx="2606040" cy="3474720"/>
          </a:xfrm>
          <a:prstGeom prst="rect">
            <a:avLst/>
          </a:prstGeom>
          <a:solidFill>
            <a:srgbClr val="1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5087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4. Supervisor
Reviews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377440"/>
            <a:ext cx="233172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/dashboard/supervisor/
Sorted by SERS score
Explanation visible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11457432" cy="914400"/>
          </a:xfrm>
          <a:prstGeom prst="rect">
            <a:avLst/>
          </a:prstGeom>
          <a:solidFill>
            <a:srgbClr val="FFF3C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A5000"/>
                </a:solidFill>
              </a:rPr>
              <a:t>⚠  Failure Injection:  Upload CSV with wellbeing_score=11 (out of range 1–10)  →  ValidationError raised in SERSEntry.clean()  →  entire batch rolled back  →  error table displayed to Operator  →  zero rows persisted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Scenario 2 — Role-Based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Unauthorized access blocked, logged, and surfaced on Admin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2103120" cy="32918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08760"/>
            <a:ext cx="188366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Operator A
(School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377440"/>
            <a:ext cx="1883663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Submits SERS entry
for a student at
School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2303" y="28346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479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371600"/>
            <a:ext cx="2103120" cy="3291840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508760"/>
            <a:ext cx="188366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Operator B
(School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2377440"/>
            <a:ext cx="1883663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Tries GET /cases/{id}/
for School A entry
← wrong 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8346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479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371600"/>
            <a:ext cx="2103120" cy="32918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1508760"/>
            <a:ext cx="188366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HTTP 403
Forbidden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377440"/>
            <a:ext cx="1883663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PermissionDenied raised
in case_detail()
lines 87–95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3" y="28346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479E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1371600"/>
            <a:ext cx="2103120" cy="3291840"/>
          </a:xfrm>
          <a:prstGeom prst="rect">
            <a:avLst/>
          </a:prstGeom>
          <a:solidFill>
            <a:srgbClr val="6B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1508760"/>
            <a:ext cx="188366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Audit Event
Logged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2377440"/>
            <a:ext cx="1883663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CaseEvent(action=
SECURITY) written
Immutable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3" y="28346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479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1371600"/>
            <a:ext cx="2103120" cy="3291840"/>
          </a:xfrm>
          <a:prstGeom prst="rect">
            <a:avLst/>
          </a:prstGeom>
          <a:solidFill>
            <a:srgbClr val="1A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3767" y="1508760"/>
            <a:ext cx="188366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 KPI
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7" y="2377440"/>
            <a:ext cx="1883663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Security event count
incremented
Visible to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92040"/>
            <a:ext cx="11457432" cy="1097280"/>
          </a:xfrm>
          <a:prstGeom prst="rect">
            <a:avLst/>
          </a:prstGeom>
          <a:solidFill>
            <a:srgbClr val="FFF3C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5000"/>
                </a:solidFill>
              </a:rPr>
              <a:t>⚠  Failure Injection:  Operator B  GET /cases/1/  →  scope check fails (school mismatch)  →  CaseEvent(SECURITY) written  →  HTTP 403 returned
Test:  test_operator_cannot_access_other_school_case  &amp;  test_security_event_logged_on_unauthorized_access
Guard:  cases/views.py  lines 82–95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Workflow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Every transition enforced in SERSEntry.transition_to() · logged as CaseEvent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1874519" cy="68580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926080"/>
            <a:ext cx="1874519" cy="685800"/>
          </a:xfrm>
          <a:prstGeom prst="rect">
            <a:avLst/>
          </a:prstGeom>
          <a:solidFill>
            <a:srgbClr val="0B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71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926080"/>
            <a:ext cx="1874519" cy="685800"/>
          </a:xfrm>
          <a:prstGeom prst="rect">
            <a:avLst/>
          </a:prstGeom>
          <a:solidFill>
            <a:srgbClr val="10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971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INTERVENTION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926080"/>
            <a:ext cx="1874519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971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FOLLOW-UP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2926080"/>
            <a:ext cx="1874519" cy="685800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9718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3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3344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33344"/>
                </a:solidFill>
              </a:rPr>
              <a:t>↑ 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404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3344"/>
                </a:solidFill>
              </a:rPr>
              <a:t>Any state → CLOSED (terminal)  ·  CLOSED has no outbound transitions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389120"/>
            <a:ext cx="10725912" cy="384048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165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416552"/>
            <a:ext cx="7772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Allowed Transitions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828032"/>
            <a:ext cx="107259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864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79E"/>
                </a:solidFill>
              </a:rPr>
              <a:t>INTAKE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8646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ASSESSMENT, CLOSED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157216"/>
            <a:ext cx="10725912" cy="32918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193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79E"/>
                </a:solidFill>
              </a:rPr>
              <a:t>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1937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INTERVENTION, CLOSED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486400"/>
            <a:ext cx="107259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5229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79E"/>
                </a:solidFill>
              </a:rPr>
              <a:t>INTERVENTION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52297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FOLLOW-UP, CLOSED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15584"/>
            <a:ext cx="10725912" cy="32918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52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79E"/>
                </a:solidFill>
              </a:rPr>
              <a:t>FOLLOW-UP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852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INTERVENTION, CLOSED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144768"/>
            <a:ext cx="107259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1813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79E"/>
                </a:solidFill>
              </a:rPr>
              <a:t>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61813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44"/>
                </a:solidFill>
              </a:rPr>
              <a:t>— (terminal)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Advanced Tracks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Three tracks selected from the exam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356616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3566160" cy="50292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216152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Track A — Service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cases/services.py separates business logic from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ingest_sers_csv(): validates, scores, logs every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Atomic rollback sentinel (_Rollback) — no partial imports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create_followup_reminder() for overdue intervention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Unit-tested independently of HTTP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7368" y="1188720"/>
            <a:ext cx="356616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87368" y="1188720"/>
            <a:ext cx="3566160" cy="502920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7" y="1216152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Track B — Security &amp;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828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Custom User model with role field + Django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606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role_required() decorator → HTTP 403 on wrong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383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Operators scoped to own school (_scoped_entries)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4160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Cross-school access → CaseEvent(SECURITY) logged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937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CSRF on every form · synthetic data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54696" y="1188720"/>
            <a:ext cx="356616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B3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54696" y="1188720"/>
            <a:ext cx="3566160" cy="502920"/>
          </a:xfrm>
          <a:prstGeom prst="rect">
            <a:avLst/>
          </a:prstGeom>
          <a:solidFill>
            <a:srgbClr val="6B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6136" y="1216152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Track D — Observability &amp;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1828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X-Correlation-ID on every request (wellbeing/middleware.py)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2606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Structured log records: level + correlation_id + logger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3383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KPI dashboard: completion rate, validation pass rate,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4160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  security event count, average SERS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4937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▸  Atomic CSV import — single bad row rolls back entire batch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Failure Injection &amp; Test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516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9E"/>
                </a:solidFill>
              </a:rPr>
              <a:t>Failure Injection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486400" cy="3657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7393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Case 1 — Bad CSV (Scenario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Input: wellbeing_score = 11  (max = 10)
Guard: SERSEntry.clean()  →  ValidationError
Result: skipped=1, transaction rolled back
Test: test_out_of_range_rejected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86200"/>
            <a:ext cx="5486400" cy="365760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227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Case 2 — Wrong School (Scenario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44"/>
                </a:solidFill>
              </a:rPr>
              <a:t>Input: Operator B  GET /cases/{id}/ (School A)
Guard: case_detail() lines 82–95
Result: HTTP 403 + CaseEvent(SECURITY) logged
Test: test_operator_cannot_access_other_school_case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516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53"/>
                </a:solidFill>
              </a:rPr>
              <a:t>pytest — Test Suite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19072"/>
            <a:ext cx="5394960" cy="3657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465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 File                           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139696"/>
            <a:ext cx="53949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85415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479E"/>
                </a:solidFill>
              </a:rPr>
              <a:t>test_sers_scoring.py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85415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5 — formula, risk classification, validation, auto-promote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98063"/>
            <a:ext cx="539496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43783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479E"/>
                </a:solidFill>
              </a:rPr>
              <a:t>test_csv_ingestion.py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43783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5 — valid upload, bad column, unknown ID, non-numeric, range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456432"/>
            <a:ext cx="53949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02151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479E"/>
                </a:solidFill>
              </a:rPr>
              <a:t>test_permissions.py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502151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5 — 403 on wrong school, SECURITY event, role locks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14800"/>
            <a:ext cx="5394960" cy="62179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16052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479E"/>
                </a:solidFill>
              </a:rPr>
              <a:t>test_workflow.py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160520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44"/>
                </a:solidFill>
              </a:rPr>
              <a:t>4 — transitions, illegal move raises, audit log, plan complete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809744"/>
            <a:ext cx="5394960" cy="548640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8463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19 passed   0 failed   0 errors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4406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3344"/>
                </a:solidFill>
              </a:rPr>
              <a:t>Run:  pytest cases/tests/ -v  --tb=short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Ethics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SESAME University · Python Web Programming – Django · 2025-2026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5176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651760" cy="50292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🔒  Synthetic Data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468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All student records are generated by Faker.
No real student data has been used or stored.
Real deployment requires written consent
and a formal data-governance agreement.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188720"/>
            <a:ext cx="265176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188720"/>
            <a:ext cx="26517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21615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📊  Rule-Based, Not Black-Box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828800"/>
            <a:ext cx="2468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The SERS formula is fully transparent.
Every case shows a component breakdown
with the exact points contributed by each
factor and the configured threshold.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188720"/>
            <a:ext cx="265176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71616" y="1188720"/>
            <a:ext cx="2651760" cy="502920"/>
          </a:xfrm>
          <a:prstGeom prst="rect">
            <a:avLst/>
          </a:prstGeom>
          <a:solidFill>
            <a:srgbClr val="E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21615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🛡️  Supervisor Override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828800"/>
            <a:ext cx="2468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Every automated classification can be
overridden by a Supervisor. The override
is stored as an immutable CaseEvent, so
the original flag is never silently erased.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24544" y="1188720"/>
            <a:ext cx="265176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4544" y="1188720"/>
            <a:ext cx="2651760" cy="502920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21615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🔍  Scope &amp; Access 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1828800"/>
            <a:ext cx="2468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44"/>
                </a:solidFill>
              </a:rPr>
              <a:t>Operators are scoped to their school.
The tool surfaces cases for human review —
it is not a diagnostic or legal authority.
All denied actions are audited and logged.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88"/>
                </a:solidFill>
              </a:rPr>
              <a:t>See docs/threat_model.md  ·  docs/risk_register.md  ·  docs/failure_injection_evidence.md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